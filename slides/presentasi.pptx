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Steppable-Surface Segmentation in Simulated Staircase Point Clouds</a:t>
            </a:r>
          </a:p>
          <a:p>
            <a:pPr algn="l">
              <a:defRPr sz="1800" b="0">
                <a:solidFill>
                  <a:srgbClr val="CBDCF0"/>
                </a:solidFill>
              </a:defRPr>
            </a:pPr>
            <a:r>
              <a:t>A Comparison of RANSAC, PCA Normal Analysis, DBSCAN, and Height-Histogram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Riyadh Lakadimu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Master Program in Electrical Engineering - Politeknik Elektronika Negeri Surabaya (PENS)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Course: Sensor and Signal Processing Systems (Final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Background &amp; Objectives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222222"/>
                </a:solidFill>
              </a:defRPr>
            </a:pPr>
            <a:r>
              <a:t>•  Stair-climbing/following robots and assistive devices need reliable 3D perception.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22222"/>
                </a:solidFill>
              </a:defRPr>
            </a:pPr>
            <a:r>
              <a:t>•  Must separate steppable surfaces (tread) from vertical faces (riser) and noise.</a:t>
            </a:r>
          </a:p>
          <a:p>
            <a:pPr algn="l" lvl="1">
              <a:spcAft>
                <a:spcPts val="600"/>
              </a:spcAft>
              <a:defRPr sz="1800" b="0">
                <a:solidFill>
                  <a:srgbClr val="C0392B"/>
                </a:solidFill>
              </a:defRPr>
            </a:pPr>
            <a:r>
              <a:t>  –  Mislabeling a riser as steppable -&gt; foothold onto a vertical face -&gt; fall hazard.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222222"/>
                </a:solidFill>
              </a:defRPr>
            </a:pPr>
            <a:r>
              <a:t>•  Deep-learning methods need large labeled data and lack interpretability.</a:t>
            </a:r>
          </a:p>
          <a:p>
            <a:pPr algn="l" lvl="1"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  –  No controlled benchmark with exact ground-truth labels for this sub-problem.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1F3864"/>
                </a:solidFill>
              </a:defRPr>
            </a:pPr>
            <a:r>
              <a:t>Objectives:</a:t>
            </a:r>
          </a:p>
          <a:p>
            <a:pPr algn="l" lvl="1"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  –  Generate a labeled 4-step staircase point cloud from a mathematical model.</a:t>
            </a:r>
          </a:p>
          <a:p>
            <a:pPr algn="l" lvl="1"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  –  Implement and compare four classical geometric methods.</a:t>
            </a:r>
          </a:p>
          <a:p>
            <a:pPr algn="l" lvl="1"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  –  Quantitative evaluation + noise analysis + robot-safety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Point Cloud Data Generation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Mathematical 4-step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Parameters: width w=2.5 m, depth d=0.30 m, height h=0.18 m, N=4 steps.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2CA02C"/>
                </a:solidFill>
              </a:defRPr>
            </a:pPr>
            <a:r>
              <a:t>Tread (i=0..3):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  –  x~U(0,w),  y~U(i·d,(i+1)·d),  z=i·h+εz,  εz~N(0,0.02²)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C0392B"/>
                </a:solidFill>
              </a:defRPr>
            </a:pPr>
            <a:r>
              <a:t>Riser (i=1..3):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  –  x~U(0,w),  y=i·d+εy,  z~U((i-1)·h, i·h)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222222"/>
                </a:solidFill>
              </a:defRPr>
            </a:pPr>
            <a:r>
              <a:t>•  + ~4% random outliers and LiDAR jitter N(0,0.005²).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1F3864"/>
                </a:solidFill>
              </a:defRPr>
            </a:pPr>
            <a:r>
              <a:t>Total 18,333 points (12,800 tread / 4,800 riser / 733 other).</a:t>
            </a:r>
          </a:p>
        </p:txBody>
      </p:sp>
      <p:pic>
        <p:nvPicPr>
          <p:cNvPr id="5" name="Picture 4" descr="profile_ground_tr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54480"/>
            <a:ext cx="5212080" cy="3722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58064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Side profile (y-z): green=tread, red=riser, grey=other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Four Segmentation Methods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Three-class scheme: tread / riser /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1. RANSAC Plane Fitting (orientation-gated)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Horizontal phase -&gt; tread, vertical phase -&gt; riser; rejects the oblique 'ramp' plane.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2. PCA Normal Analysis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Per-point normals via PCA over k-NN; classified by tilt |n·z|.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3. DBSCAN + Slope Analysis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Orientation split -&gt; spatial clustering -&gt; per-cluster slope confirmation.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4. Height-Histogram Analysis (advanced)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Peaks of the z-histogram = tread levels; bands between = riser.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2CA02C"/>
                </a:solidFill>
              </a:defRPr>
            </a:pPr>
            <a:r>
              <a:t>Minimum 2 methods required -&gt; 4 implemented for a thorough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Methodology &amp; Algorithms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Core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RANSAC: point-to-plane distance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d(x)=|n·x+b|,  inliers I={x: d(x)&lt;τ},  τ=0.035 m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Orientation gate: horizontal |n·z|≥0.93 (tread), vertical ≤0.25 (riser).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PCA Normal: local k-NN covariance (k=50)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C_p=(1/k)Σ(x_j-x̄)(x_j-x̄)ᵀ,  n_p=eigvec_min(C_p)</a:t>
            </a:r>
          </a:p>
          <a:p>
            <a:pPr algn="l" lvl="1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  –  Tread |n·z|≥0.80, riser ≤0.50 (looser: per-point normals are noisier).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DBSCAN: ε=0.08 m within each orientation group, then slope confirmation.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C0392B"/>
                </a:solidFill>
              </a:defRPr>
            </a:pPr>
            <a:r>
              <a:t>•  Global stair 'ramp' plane: |n·z|=d/√(d²+h²)≈0.86 -&gt; motivates the orientation gate.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Experimental Results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Tread-class metrics (one-vs-rest)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IoU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RANSAC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0.714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0.798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0.664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PCA-Normals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A02C"/>
                          </a:solidFill>
                        </a:defRPr>
                      </a:pPr>
                      <a:r>
                        <a:t>0.954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0.864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DBSCAN-Slope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A02C"/>
                          </a:solidFill>
                        </a:defRPr>
                      </a:pPr>
                      <a:r>
                        <a:t>0.920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0.936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0.949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A02C"/>
                          </a:solidFill>
                        </a:defRPr>
                      </a:pPr>
                      <a:r>
                        <a:t>0.943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A02C"/>
                          </a:solidFill>
                        </a:defRPr>
                      </a:pPr>
                      <a:r>
                        <a:t>0.892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Height-Histogram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0.809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2CA02C"/>
                          </a:solidFill>
                        </a:defRPr>
                      </a:pPr>
                      <a: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0"/>
                      </a:pPr>
                      <a:r>
                        <a:t>0.799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944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2CA02C"/>
                </a:solidFill>
              </a:defRPr>
            </a:pPr>
            <a:r>
              <a:t>DBSCAN-Slope is best: F1 0.943, IoU 0.892.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•  PCA-Normals close behind: F1 0.927, highest precision 0.954.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222222"/>
                </a:solidFill>
              </a:defRPr>
            </a:pPr>
            <a:r>
              <a:t>•  Height-Histogram: highest recall 0.984, lower precision.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C0392B"/>
                </a:solidFill>
              </a:defRPr>
            </a:pPr>
            <a:r>
              <a:t>•  Plain RANSAC weakest: precision 0.714 (risers absorbed by tread planes).</a:t>
            </a:r>
          </a:p>
        </p:txBody>
      </p:sp>
      <p:pic>
        <p:nvPicPr>
          <p:cNvPr id="6" name="Picture 5" descr="seg_dbscan_s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417320"/>
            <a:ext cx="4572000" cy="190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78040" y="33832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DBSCAN 3D segmentation vs ground truth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3D Visualization &amp; Histogram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Experimental results</a:t>
            </a:r>
          </a:p>
        </p:txBody>
      </p:sp>
      <p:pic>
        <p:nvPicPr>
          <p:cNvPr id="4" name="Picture 3" descr="height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577840" cy="3187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834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Height histogram: 4 tread levels detected (z≈0,0.18,0.36,0.54 m)</a:t>
            </a:r>
          </a:p>
        </p:txBody>
      </p:sp>
      <p:pic>
        <p:nvPicPr>
          <p:cNvPr id="6" name="Picture 5" descr="seg_pca_norm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4864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383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PCA-Normals 3D segmentation (left GT, right result)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9319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•  Each tread forms a sharp z-level; risers fill the bands between levels.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666666"/>
                </a:solidFill>
              </a:defRPr>
            </a:pPr>
            <a:r>
              <a:t>•  Green=tread, red=riser, grey=other/outlier.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Noise Analysis &amp; Robot Safety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Discussion</a:t>
            </a:r>
          </a:p>
        </p:txBody>
      </p:sp>
      <p:pic>
        <p:nvPicPr>
          <p:cNvPr id="4" name="Picture 3" descr="nois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486400" cy="3135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Tread F1/IoU vs σz (PCA-Normals)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1F3864"/>
                </a:solidFill>
              </a:defRPr>
            </a:pPr>
            <a:r>
              <a:t>Effect of noise: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  –  F1 drops 0.956 -&gt; 0.543 as σz 0.01 -&gt; 0.07 m.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  –  Sharp fall as σz approaches ½ step height (0.09 m): normals become ambiguous.</a:t>
            </a:r>
          </a:p>
          <a:p>
            <a:pPr algn="l">
              <a:spcAft>
                <a:spcPts val="600"/>
              </a:spcAft>
              <a:defRPr sz="1800" b="1">
                <a:solidFill>
                  <a:srgbClr val="1F3864"/>
                </a:solidFill>
              </a:defRPr>
            </a:pPr>
            <a:r>
              <a:t>Safety for stair-following robots: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222222"/>
                </a:solidFill>
              </a:defRPr>
            </a:pPr>
            <a:r>
              <a:t>  –  IoU≈0.89 is adequate for coarse foothold planning.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C0392B"/>
                </a:solidFill>
              </a:defRPr>
            </a:pPr>
            <a:r>
              <a:t>  –  Precision &lt;1.0 -&gt; some risers mislabeled steppable = hazard.</a:t>
            </a:r>
          </a:p>
          <a:p>
            <a:pPr algn="l" lvl="1">
              <a:spcAft>
                <a:spcPts val="600"/>
              </a:spcAft>
              <a:defRPr sz="1600" b="0">
                <a:solidFill>
                  <a:srgbClr val="2CA02C"/>
                </a:solidFill>
              </a:defRPr>
            </a:pPr>
            <a:r>
              <a:t>  –  Mitigation: ensemble voting, tread-edge erosion margin, temporal verification.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7729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 algn="l">
              <a:defRPr sz="1400" b="0">
                <a:solidFill>
                  <a:srgbClr val="CBDCF0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441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A fully labeled synthetic staircase benchmark + comparison of four classical methods.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1F3864"/>
                </a:solidFill>
              </a:defRPr>
            </a:pPr>
            <a:r>
              <a:t>DBSCAN + slope analysis is best (F1 0.943, IoU 0.892); plain RANSAC is weakest.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Normal-based methods (PCA, DBSCAN) win: tread vs riser orientation is a strong cue.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Segmentation degrades as noise approaches half the step height.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Adequate for coarse foothold planning; needs safety margins before robot use.</a:t>
            </a:r>
          </a:p>
          <a:p>
            <a:pPr algn="l">
              <a:spcAft>
                <a:spcPts val="600"/>
              </a:spcAft>
              <a:defRPr sz="1900" b="0">
                <a:solidFill>
                  <a:srgbClr val="222222"/>
                </a:solidFill>
              </a:defRPr>
            </a:pPr>
            <a:r>
              <a:t>•  Future work: multi-method ensemble, real LiDAR validation, comparison vs deep learning.</a:t>
            </a:r>
          </a:p>
          <a:p>
            <a:pPr algn="l">
              <a:spcAft>
                <a:spcPts val="600"/>
              </a:spcAft>
              <a:defRPr sz="1900" b="1">
                <a:solidFill>
                  <a:srgbClr val="2B6CB0"/>
                </a:solidFill>
              </a:defRPr>
            </a:pPr>
            <a:r>
              <a:t>Code + paper + repo: github.com/riyadh-gif/UAS-citraPraktikum-PakNando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F3864"/>
                </a:solidFill>
              </a:defRPr>
            </a:pPr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