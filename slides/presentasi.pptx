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Segmentasi Permukaan Dapat-Dipijak pada Point Cloud Anak Tangga</a:t>
            </a:r>
          </a:p>
          <a:p>
            <a:pPr algn="l">
              <a:defRPr sz="1800" b="0">
                <a:solidFill>
                  <a:srgbClr val="CBDCF0"/>
                </a:solidFill>
              </a:defRPr>
            </a:pPr>
            <a:r>
              <a:t>Perbandingan RANSAC, Analisis Normal PCA, DBSCAN, dan Histogram Ketinggian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46320"/>
            <a:ext cx="10545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Riyadh Lakadimu</a:t>
            </a:r>
          </a:p>
          <a:p>
            <a:pPr algn="l">
              <a:defRPr sz="1400" b="0">
                <a:solidFill>
                  <a:srgbClr val="CBDCF0"/>
                </a:solidFill>
              </a:defRPr>
            </a:pPr>
            <a:r>
              <a:t>Magister Teknik Elektro - Politeknik Elektronika Negeri Surabaya (PENS)</a:t>
            </a:r>
          </a:p>
          <a:p>
            <a:pPr algn="l">
              <a:defRPr sz="1400" b="0">
                <a:solidFill>
                  <a:srgbClr val="CBDCF0"/>
                </a:solidFill>
              </a:defRPr>
            </a:pPr>
            <a:r>
              <a:t>Mata Kuliah: Sensor dan Sistem Pengolahan Sinyal (UAS)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Latar Belakang &amp; Tujuan</a:t>
            </a:r>
          </a:p>
          <a:p>
            <a:pPr algn="l">
              <a:defRPr sz="1400" b="0">
                <a:solidFill>
                  <a:srgbClr val="CBDCF0"/>
                </a:solidFill>
              </a:defRPr>
            </a:pPr>
            <a:r>
              <a:t>Pendahuluan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0">
                <a:solidFill>
                  <a:srgbClr val="222222"/>
                </a:solidFill>
              </a:defRPr>
            </a:pPr>
            <a:r>
              <a:t>•  Robot pemanjat/pengikut tangga &amp; alat bantu tunanetra butuh deteksi 3D yang andal.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22222"/>
                </a:solidFill>
              </a:defRPr>
            </a:pPr>
            <a:r>
              <a:t>•  Harus bedakan permukaan dapat-dipijak (tread) dari bagian vertikal (riser) &amp; noise.</a:t>
            </a:r>
          </a:p>
          <a:p>
            <a:pPr algn="l" lvl="1">
              <a:spcAft>
                <a:spcPts val="600"/>
              </a:spcAft>
              <a:defRPr sz="1800" b="0">
                <a:solidFill>
                  <a:srgbClr val="C0392B"/>
                </a:solidFill>
              </a:defRPr>
            </a:pPr>
            <a:r>
              <a:t>  –  Salah label riser jadi 'dapat dipijak' -&gt; pijakan ke bidang vertikal -&gt; bahaya jatuh.</a:t>
            </a:r>
          </a:p>
          <a:p>
            <a:pPr algn="l">
              <a:spcAft>
                <a:spcPts val="600"/>
              </a:spcAft>
              <a:defRPr sz="2000" b="0">
                <a:solidFill>
                  <a:srgbClr val="222222"/>
                </a:solidFill>
              </a:defRPr>
            </a:pPr>
            <a:r>
              <a:t>•  Metode deep learning butuh data berlabel besar &amp; kurang interpretable.</a:t>
            </a:r>
          </a:p>
          <a:p>
            <a:pPr algn="l" lvl="1"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  –  Belum ada benchmark terkontrol dengan ground-truth eksak untuk sub-masalah ini.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1F3864"/>
                </a:solidFill>
              </a:defRPr>
            </a:pPr>
            <a:r>
              <a:t>Tujuan:</a:t>
            </a:r>
          </a:p>
          <a:p>
            <a:pPr algn="l" lvl="1"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  –  Generasi point cloud anak tangga 4-step dari model matematis berlabel.</a:t>
            </a:r>
          </a:p>
          <a:p>
            <a:pPr algn="l" lvl="1"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  –  Implementasi &amp; bandingkan 4 metode geometris klasik.</a:t>
            </a:r>
          </a:p>
          <a:p>
            <a:pPr algn="l" lvl="1"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  –  Evaluasi kuantitatif + analisis noise + diskusi keamanan robot.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Generasi Data Point Cloud</a:t>
            </a:r>
          </a:p>
          <a:p>
            <a:pPr algn="l">
              <a:defRPr sz="1400" b="0">
                <a:solidFill>
                  <a:srgbClr val="CBDCF0"/>
                </a:solidFill>
              </a:defRPr>
            </a:pPr>
            <a:r>
              <a:t>Model matematis 4-step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Parameter: lebar w=2.5 m, kedalaman d=0.30 m, tinggi h=0.18 m, N=4 step.</a:t>
            </a:r>
          </a:p>
          <a:p>
            <a:pPr algn="l">
              <a:spcAft>
                <a:spcPts val="600"/>
              </a:spcAft>
              <a:defRPr sz="1800" b="1">
                <a:solidFill>
                  <a:srgbClr val="2CA02C"/>
                </a:solidFill>
              </a:defRPr>
            </a:pPr>
            <a:r>
              <a:t>Tread (i=0..3):</a:t>
            </a:r>
          </a:p>
          <a:p>
            <a:pPr algn="l" lvl="1"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  –  x~U(0,w),  y~U(i·d,(i+1)·d),  z=i·h+εz,  εz~N(0,0.02²)</a:t>
            </a:r>
          </a:p>
          <a:p>
            <a:pPr algn="l">
              <a:spcAft>
                <a:spcPts val="600"/>
              </a:spcAft>
              <a:defRPr sz="1800" b="1">
                <a:solidFill>
                  <a:srgbClr val="C0392B"/>
                </a:solidFill>
              </a:defRPr>
            </a:pPr>
            <a:r>
              <a:t>Riser (i=1..3):</a:t>
            </a:r>
          </a:p>
          <a:p>
            <a:pPr algn="l" lvl="1"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  –  x~U(0,w),  y=i·d+εy,  z~U((i-1)·h, i·h)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22222"/>
                </a:solidFill>
              </a:defRPr>
            </a:pPr>
            <a:r>
              <a:t>•  + outlier acak ~4% dan jitter LiDAR N(0,0.005²).</a:t>
            </a:r>
          </a:p>
          <a:p>
            <a:pPr algn="l">
              <a:spcAft>
                <a:spcPts val="600"/>
              </a:spcAft>
              <a:defRPr sz="1800" b="1">
                <a:solidFill>
                  <a:srgbClr val="1F3864"/>
                </a:solidFill>
              </a:defRPr>
            </a:pPr>
            <a:r>
              <a:t>Total 18,333 titik (12,800 tread / 4,800 riser / 733 other).</a:t>
            </a:r>
          </a:p>
        </p:txBody>
      </p:sp>
      <p:pic>
        <p:nvPicPr>
          <p:cNvPr id="6" name="Picture 5" descr="profile_ground_tru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54480"/>
            <a:ext cx="5212080" cy="37229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580644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</a:defRPr>
            </a:pPr>
            <a:r>
              <a:t>Profil samping (y-z): hijau=tread, merah=riser, abu=lainnya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Empat Metode Segmentasi</a:t>
            </a:r>
          </a:p>
          <a:p>
            <a:pPr algn="l">
              <a:defRPr sz="1400" b="0">
                <a:solidFill>
                  <a:srgbClr val="CBDCF0"/>
                </a:solidFill>
              </a:defRPr>
            </a:pPr>
            <a:r>
              <a:t>Skema 3 kelas: tread / riser / lainnya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1">
                <a:solidFill>
                  <a:srgbClr val="1F3864"/>
                </a:solidFill>
              </a:defRPr>
            </a:pPr>
            <a:r>
              <a:t>1. RANSAC Plane Fitting (orientation-gated)</a:t>
            </a:r>
          </a:p>
          <a:p>
            <a:pPr algn="l" lvl="1">
              <a:spcAft>
                <a:spcPts val="600"/>
              </a:spcAft>
              <a:defRPr sz="1700" b="0">
                <a:solidFill>
                  <a:srgbClr val="222222"/>
                </a:solidFill>
              </a:defRPr>
            </a:pPr>
            <a:r>
              <a:t>  –  Fase horizontal -&gt; tread, fase vertikal -&gt; riser; tolak bidang 'ramp' miring.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3864"/>
                </a:solidFill>
              </a:defRPr>
            </a:pPr>
            <a:r>
              <a:t>2. Analisis Normal PCA</a:t>
            </a:r>
          </a:p>
          <a:p>
            <a:pPr algn="l" lvl="1">
              <a:spcAft>
                <a:spcPts val="600"/>
              </a:spcAft>
              <a:defRPr sz="1700" b="0">
                <a:solidFill>
                  <a:srgbClr val="222222"/>
                </a:solidFill>
              </a:defRPr>
            </a:pPr>
            <a:r>
              <a:t>  –  Normal per-titik via PCA k-NN; klasifikasi dari kemiringan |n·z|.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3864"/>
                </a:solidFill>
              </a:defRPr>
            </a:pPr>
            <a:r>
              <a:t>3. DBSCAN + Analisis Kemiringan</a:t>
            </a:r>
          </a:p>
          <a:p>
            <a:pPr algn="l" lvl="1">
              <a:spcAft>
                <a:spcPts val="600"/>
              </a:spcAft>
              <a:defRPr sz="1700" b="0">
                <a:solidFill>
                  <a:srgbClr val="222222"/>
                </a:solidFill>
              </a:defRPr>
            </a:pPr>
            <a:r>
              <a:t>  –  Split orientasi -&gt; klaster spasial -&gt; konfirmasi slope tiap klaster.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3864"/>
                </a:solidFill>
              </a:defRPr>
            </a:pPr>
            <a:r>
              <a:t>4. Analisis Histogram Ketinggian (lanjutan)</a:t>
            </a:r>
          </a:p>
          <a:p>
            <a:pPr algn="l" lvl="1">
              <a:spcAft>
                <a:spcPts val="600"/>
              </a:spcAft>
              <a:defRPr sz="1700" b="0">
                <a:solidFill>
                  <a:srgbClr val="222222"/>
                </a:solidFill>
              </a:defRPr>
            </a:pPr>
            <a:r>
              <a:t>  –  Puncak histogram z = level tread; pita antar-level = riser.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2CA02C"/>
                </a:solidFill>
              </a:defRPr>
            </a:pPr>
            <a:r>
              <a:t>Wajib min. 2 metode -&gt; diimplementasikan 4 untuk perbandingan menyeluruh.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Metodologi &amp; Algoritma</a:t>
            </a:r>
          </a:p>
          <a:p>
            <a:pPr algn="l">
              <a:defRPr sz="1400" b="0">
                <a:solidFill>
                  <a:srgbClr val="CBDCF0"/>
                </a:solidFill>
              </a:defRPr>
            </a:pPr>
            <a:r>
              <a:t>Rumus inti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1">
                <a:solidFill>
                  <a:srgbClr val="1F3864"/>
                </a:solidFill>
              </a:defRPr>
            </a:pPr>
            <a:r>
              <a:t>RANSAC: jarak titik ke bidang</a:t>
            </a:r>
          </a:p>
          <a:p>
            <a:pPr algn="l" lvl="1">
              <a:spcAft>
                <a:spcPts val="600"/>
              </a:spcAft>
              <a:defRPr sz="1700" b="0">
                <a:solidFill>
                  <a:srgbClr val="222222"/>
                </a:solidFill>
              </a:defRPr>
            </a:pPr>
            <a:r>
              <a:t>  –  d(x)=|n·x+b|,  inlier I={x: d(x)&lt;τ},  τ=0.035 m</a:t>
            </a:r>
          </a:p>
          <a:p>
            <a:pPr algn="l" lvl="1">
              <a:spcAft>
                <a:spcPts val="600"/>
              </a:spcAft>
              <a:defRPr sz="1700" b="0">
                <a:solidFill>
                  <a:srgbClr val="222222"/>
                </a:solidFill>
              </a:defRPr>
            </a:pPr>
            <a:r>
              <a:t>  –  Gate orientasi: horizontal |n·z|≥0.93 (tread), vertikal ≤0.25 (riser).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3864"/>
                </a:solidFill>
              </a:defRPr>
            </a:pPr>
            <a:r>
              <a:t>PCA Normal: kovarians lokal k-NN (k=50)</a:t>
            </a:r>
          </a:p>
          <a:p>
            <a:pPr algn="l" lvl="1">
              <a:spcAft>
                <a:spcPts val="600"/>
              </a:spcAft>
              <a:defRPr sz="1700" b="0">
                <a:solidFill>
                  <a:srgbClr val="222222"/>
                </a:solidFill>
              </a:defRPr>
            </a:pPr>
            <a:r>
              <a:t>  –  C_p=(1/k)Σ(x_j-x̄)(x_j-x̄)ᵀ,  n_p=eigvec_min(C_p)</a:t>
            </a:r>
          </a:p>
          <a:p>
            <a:pPr algn="l" lvl="1">
              <a:spcAft>
                <a:spcPts val="600"/>
              </a:spcAft>
              <a:defRPr sz="1700" b="0">
                <a:solidFill>
                  <a:srgbClr val="222222"/>
                </a:solidFill>
              </a:defRPr>
            </a:pPr>
            <a:r>
              <a:t>  –  Tread |n·z|≥0.80, riser ≤0.50 (lebih longgar: normal per-titik lebih noisy).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3864"/>
                </a:solidFill>
              </a:defRPr>
            </a:pPr>
            <a:r>
              <a:t>DBSCAN: ε=0.08 m dalam tiap grup orientasi, lalu konfirmasi slope.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C0392B"/>
                </a:solidFill>
              </a:defRPr>
            </a:pPr>
            <a:r>
              <a:t>•  Bidang 'ramp' global stair: |n·z|=d/√(d²+h²)≈0.86 -&gt; alasan gate orientasi.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Hasil Eksperimen</a:t>
            </a:r>
          </a:p>
          <a:p>
            <a:pPr algn="l">
              <a:defRPr sz="1400" b="0">
                <a:solidFill>
                  <a:srgbClr val="CBDCF0"/>
                </a:solidFill>
              </a:defRPr>
            </a:pPr>
            <a:r>
              <a:t>Metrik kelas tread (one-vs-rest)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6400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47548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Metode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Acc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Prec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Rec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IoU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RANSAC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/>
                      </a:pPr>
                      <a:r>
                        <a:t>0.681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/>
                      </a:pPr>
                      <a:r>
                        <a:t>0.714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/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/>
                      </a:pPr>
                      <a:r>
                        <a:t>0.798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/>
                      </a:pPr>
                      <a:r>
                        <a:t>0.664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PCA-Normals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/>
                      </a:pPr>
                      <a:r>
                        <a:t>0.901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CA02C"/>
                          </a:solidFill>
                        </a:defRPr>
                      </a:pPr>
                      <a:r>
                        <a:t>0.954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/>
                      </a:pPr>
                      <a:r>
                        <a:t>0.901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/>
                      </a:pPr>
                      <a:r>
                        <a:t>0.927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/>
                      </a:pPr>
                      <a:r>
                        <a:t>0.864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DBSCAN-Slope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CA02C"/>
                          </a:solidFill>
                        </a:defRPr>
                      </a:pPr>
                      <a:r>
                        <a:t>0.920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/>
                      </a:pPr>
                      <a:r>
                        <a:t>0.936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/>
                      </a:pPr>
                      <a:r>
                        <a:t>0.949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CA02C"/>
                          </a:solidFill>
                        </a:defRPr>
                      </a:pPr>
                      <a:r>
                        <a:t>0.943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CA02C"/>
                          </a:solidFill>
                        </a:defRPr>
                      </a:pPr>
                      <a:r>
                        <a:t>0.892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Height-Histogram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/>
                      </a:pPr>
                      <a:r>
                        <a:t>0.827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/>
                      </a:pPr>
                      <a:r>
                        <a:t>0.809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CA02C"/>
                          </a:solidFill>
                        </a:defRPr>
                      </a:pPr>
                      <a:r>
                        <a:t>0.984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/>
                      </a:pPr>
                      <a:r>
                        <a:t>0.888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 b="0"/>
                      </a:pPr>
                      <a:r>
                        <a:t>0.799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109441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2CA02C"/>
                </a:solidFill>
              </a:defRPr>
            </a:pPr>
            <a:r>
              <a:t>DBSCAN-Slope terbaik: F1 0.943, IoU 0.892.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22222"/>
                </a:solidFill>
              </a:defRPr>
            </a:pPr>
            <a:r>
              <a:t>•  PCA-Normals dekat: F1 0.927, presisi tertinggi 0.954.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22222"/>
                </a:solidFill>
              </a:defRPr>
            </a:pPr>
            <a:r>
              <a:t>•  Histogram: recall tertinggi 0.984, presisi lebih rendah.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C0392B"/>
                </a:solidFill>
              </a:defRPr>
            </a:pPr>
            <a:r>
              <a:t>•  RANSAC murni terlemah: presisi 0.714 (riser terserap bidang tread).</a:t>
            </a:r>
          </a:p>
        </p:txBody>
      </p:sp>
      <p:pic>
        <p:nvPicPr>
          <p:cNvPr id="7" name="Picture 6" descr="seg_dbscan_s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417320"/>
            <a:ext cx="4572000" cy="1905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78040" y="33832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</a:defRPr>
            </a:pPr>
            <a:r>
              <a:t>Segmentasi DBSCAN 3D vs ground truth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Visualisasi 3D &amp; Histogram</a:t>
            </a:r>
          </a:p>
          <a:p>
            <a:pPr algn="l">
              <a:defRPr sz="1400" b="0">
                <a:solidFill>
                  <a:srgbClr val="CBDCF0"/>
                </a:solidFill>
              </a:defRPr>
            </a:pPr>
            <a:r>
              <a:t>Hasil eksperimen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</a:p>
        </p:txBody>
      </p:sp>
      <p:pic>
        <p:nvPicPr>
          <p:cNvPr id="5" name="Picture 4" descr="height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577840" cy="31873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348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</a:defRPr>
            </a:pPr>
            <a:r>
              <a:t>Histogram ketinggian: 4 level tread terdeteksi (z≈0,0.18,0.36,0.54 m)</a:t>
            </a:r>
          </a:p>
        </p:txBody>
      </p:sp>
      <p:pic>
        <p:nvPicPr>
          <p:cNvPr id="7" name="Picture 6" descr="seg_pca_norm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48640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33832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</a:defRPr>
            </a:pPr>
            <a:r>
              <a:t>Segmentasi PCA-Normals 3D (kiri GT, kanan hasil)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9319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•  Tiap tread jadi level z tajam; riser mengisi pita antar-level.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666666"/>
                </a:solidFill>
              </a:defRPr>
            </a:pPr>
            <a:r>
              <a:t>•  Hijau=tread, merah=riser, abu=lainnya/outlier.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Analisis Noise &amp; Keamanan Robot</a:t>
            </a:r>
          </a:p>
          <a:p>
            <a:pPr algn="l">
              <a:defRPr sz="1400" b="0">
                <a:solidFill>
                  <a:srgbClr val="CBDCF0"/>
                </a:solidFill>
              </a:defRPr>
            </a:pPr>
            <a:r>
              <a:t>Diskusi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</a:p>
        </p:txBody>
      </p:sp>
      <p:pic>
        <p:nvPicPr>
          <p:cNvPr id="5" name="Picture 4" descr="nois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486400" cy="31350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</a:defRPr>
            </a:pPr>
            <a:r>
              <a:t>F1/IoU tread vs σz (PCA-Normals)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1">
                <a:solidFill>
                  <a:srgbClr val="1F3864"/>
                </a:solidFill>
              </a:defRPr>
            </a:pPr>
            <a:r>
              <a:t>Pengaruh noise:</a:t>
            </a:r>
          </a:p>
          <a:p>
            <a:pPr algn="l" lvl="1"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  –  F1 turun 0.956 -&gt; 0.543 saat σz 0.01 -&gt; 0.07 m.</a:t>
            </a:r>
          </a:p>
          <a:p>
            <a:pPr algn="l" lvl="1"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  –  Jatuh tajam saat σz mendekati ½ tinggi step (0.09 m): normal jadi ambigu.</a:t>
            </a:r>
          </a:p>
          <a:p>
            <a:pPr algn="l">
              <a:spcAft>
                <a:spcPts val="600"/>
              </a:spcAft>
              <a:defRPr sz="1800" b="1">
                <a:solidFill>
                  <a:srgbClr val="1F3864"/>
                </a:solidFill>
              </a:defRPr>
            </a:pPr>
            <a:r>
              <a:t>Keamanan robot pengikut tangga:</a:t>
            </a:r>
          </a:p>
          <a:p>
            <a:pPr algn="l" lvl="1">
              <a:spcAft>
                <a:spcPts val="600"/>
              </a:spcAft>
              <a:defRPr sz="1600" b="0">
                <a:solidFill>
                  <a:srgbClr val="222222"/>
                </a:solidFill>
              </a:defRPr>
            </a:pPr>
            <a:r>
              <a:t>  –  IoU≈0.89 cukup untuk perencanaan pijakan kasar.</a:t>
            </a:r>
          </a:p>
          <a:p>
            <a:pPr algn="l" lvl="1">
              <a:spcAft>
                <a:spcPts val="600"/>
              </a:spcAft>
              <a:defRPr sz="1600" b="0">
                <a:solidFill>
                  <a:srgbClr val="C0392B"/>
                </a:solidFill>
              </a:defRPr>
            </a:pPr>
            <a:r>
              <a:t>  –  Presisi &lt;1.0 -&gt; sebagian riser salah label 'dapat dipijak' = risiko.</a:t>
            </a:r>
          </a:p>
          <a:p>
            <a:pPr algn="l" lvl="1">
              <a:spcAft>
                <a:spcPts val="600"/>
              </a:spcAft>
              <a:defRPr sz="1600" b="0">
                <a:solidFill>
                  <a:srgbClr val="2CA02C"/>
                </a:solidFill>
              </a:defRPr>
            </a:pPr>
            <a:r>
              <a:t>  –  Mitigasi: ensemble voting, margin erosi tepi tread, verifikasi temporal.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Kesimpulan</a:t>
            </a:r>
          </a:p>
          <a:p>
            <a:pPr algn="l">
              <a:defRPr sz="1400" b="0">
                <a:solidFill>
                  <a:srgbClr val="CBDCF0"/>
                </a:solidFill>
              </a:defRPr>
            </a:pPr>
            <a:r>
              <a:t>Penutup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Benchmark point cloud anak tangga sintetis berlabel penuh + perbandingan 4 metode klasik.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1F3864"/>
                </a:solidFill>
              </a:defRPr>
            </a:pPr>
            <a:r>
              <a:t>DBSCAN + analisis kemiringan terbaik (F1 0.943, IoU 0.892); RANSAC murni terlemah.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Metode berbasis normal (PCA, DBSCAN) unggul: orientasi tread vs riser cue yang kuat.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Segmentasi memburuk saat noise mendekati ½ tinggi step.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Cukup untuk perencanaan pijakan kasar, perlu margin keamanan sebelum dipakai robot.</a:t>
            </a:r>
          </a:p>
          <a:p>
            <a:pPr algn="l">
              <a:spcAft>
                <a:spcPts val="600"/>
              </a:spcAft>
              <a:defRPr sz="1900" b="0">
                <a:solidFill>
                  <a:srgbClr val="222222"/>
                </a:solidFill>
              </a:defRPr>
            </a:pPr>
            <a:r>
              <a:t>•  Arah ke depan: ensemble multi-metode, validasi LiDAR nyata, bandingkan vs deep learning.</a:t>
            </a:r>
          </a:p>
          <a:p>
            <a:pPr algn="l">
              <a:spcAft>
                <a:spcPts val="600"/>
              </a:spcAft>
              <a:defRPr sz="1900" b="1">
                <a:solidFill>
                  <a:srgbClr val="2B6CB0"/>
                </a:solidFill>
              </a:defRPr>
            </a:pPr>
            <a:r>
              <a:t>Kode + paper + repo: github.com/riyadh-gif/UAS-citraPraktikum-PakNando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1F3864"/>
                </a:solidFill>
              </a:defRPr>
            </a:pPr>
            <a:r>
              <a:t>Terima kasih.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